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097280"/>
            <a:ext cx="3200400" cy="3200400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A500"/>
                </a:solidFill>
              </a:rPr>
              <a:t>SUNFLOWER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Solar Panel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0"/>
                </a:solidFill>
              </a:rPr>
              <a:t>An Intelligent, Autonomous Solar Tracking &amp; Monitoring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Competition Presentation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ACC"/>
                </a:solidFill>
              </a:rPr>
              <a:t>ESP32  •  L298N Motor  •  Servo  •  RTC  •  WiFi TCP  •  OLED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Why fixed solar panels are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657600" cy="160020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25 – 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Energy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92808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Fixed panels miss peak sun because they cannot track the sun's movement across the sky. A panel pointed east loses hours of afternoon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143000"/>
            <a:ext cx="3657600" cy="160020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Manual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6002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892808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Repositioning panels by hand is impractical, especially on rooftops, remote farms, or large-scale solar fields with hundreds of panels.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143000"/>
            <a:ext cx="3657600" cy="160020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Zero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6002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892808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Most DIY systems have no way to know current power output, battery health, or whether the system is working — until something fails.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26080"/>
            <a:ext cx="3657600" cy="160020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Weather Damage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75888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Panels left fully exposed during storms, hail, or high wind events are at risk of physical damage. Automated retraction prevents this.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2926080"/>
            <a:ext cx="3657600" cy="160020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High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383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Barrier to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675888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Commercial solar trackers cost thousands of dollars, making them inaccessible for small farms, rural homes, and developing regions.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6" y="2926080"/>
            <a:ext cx="3657600" cy="160020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No Remote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383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Operator Blind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3675888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Installers and owners have no remote dashboard to see live voltage, current, and power — making fault diagnosis slow and expensive.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5508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Our system solves all six problems with a single $30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WHAT THE SYSTEM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Inspired by the sunflower — follows the sun from dawn to dusk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88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63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Opens panel at sunrise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3736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RTC-scheduled DC motor fires at programmed morning time, physically deploying the solar panel to face the sky.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2424" y="1115568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188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463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Tracks sun every 15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73736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Continuous-rotation servo rotates the panel angle toward the sun at 15-minute intervals throughout the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1115568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188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463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Closes panel at sunset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173736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Motor reverses at programmed evening time, retracting the panel to protect it from wind, rain, and vandalism overnight.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54312" y="1115568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188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463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Monitors output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73736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ACS712 current sensor + voltage dividers measure panel voltage (V), current (A), and calculated power (W) every 100 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60904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27340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3008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Wireless OLED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282696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 separate ESP32 shows live sensor values on an OLED screen over a private WiFi network — no internet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92424" y="2660904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27340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3008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Manual control anytime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282696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4 physical buttons let the operator manually open/close the panel or nudge the servo angle at any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368" y="2660904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27340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RESET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008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Emergency stop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3282696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 single RESET command instantly halts motor and servo, clears all state flags — safe for field use.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54312" y="2660904"/>
            <a:ext cx="283464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27340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CALIBRATE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008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Auto sensor calibration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282696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On every boot, 500 ADC samples are averaged to auto-calibrate the zero-current offset — no manual tuning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Two ESP32 units — fully wireless, no internet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4206240" cy="502920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Solar Controller  (ESP32 — 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0784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L298N DC Motor Driver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Continuous Rotation Servo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Panel Voltage Sensor (GPIO 34)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Panel Current Sensor ACS712 (GPIO 35)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Battery Voltage Sensor (GPIO 32)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RTC DS3231 — I²C timekeeping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WiFi Station mode — TCP client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Non-blocking 10ms loop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PWM soft-ramp motor control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Auto current sensor calibration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3474720"/>
            <a:ext cx="22860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500"/>
                </a:solidFill>
              </a:rPr>
              <a:t>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500"/>
                </a:solidFill>
              </a:rPr>
              <a:t>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1272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WiFi TCP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ECC71"/>
                </a:solidFill>
              </a:rPr>
              <a:t>Sensor CSV (100ms)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822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CC44"/>
                </a:solidFill>
              </a:rPr>
              <a:t>Button Commands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170432"/>
            <a:ext cx="4343400" cy="502920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280160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Remote Control Unit  (ESP32 — AP)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700784"/>
            <a:ext cx="4069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WiFi Access Point (192.168.4.1:5000)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OLED 128×64 live dashboard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Displays: Panel V, Current A, Power 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Displays: Battery V, Time (HH:MM:SS)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Button 1 — SERVO_FWD (hold to run)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Button 2 — SERVO_REV (hold to run)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Button 3 — PANEL_OPEN (hold to run)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Button 4 — PANEL_CLOSE (hold to run)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Auto-reconnects dropped clients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A500"/>
                </a:solidFill>
              </a:rPr>
              <a:t>▶  </a:t>
            </a:r>
            <a:r>
              <a:rPr sz="1100">
                <a:solidFill>
                  <a:srgbClr val="FFFFFF"/>
                </a:solidFill>
              </a:rPr>
              <a:t>Display refresh every 500ms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KEY TECHNICAL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Engineering decisions that make the system reliable in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3657600" cy="22860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Non-Blocking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81328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Main loop runs every 10 ms — never uses delay()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All operations use millis() timers (motor, servo, WiFi, sensors)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Motor, servo and WiFi reconnect all run concurrently without pausing each other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WiFi connect() is only called when motor is IDLE to prevent blocking the PWM ramp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115568"/>
            <a:ext cx="3657600" cy="22860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Motor State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1481328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States: MOTOR_IDLE → OPENING / CLOSING / MANUAL → IDLE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New commands only accepted when state is MOTOR_IDLE — prevents double-trigger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opened/closed flags set AFTER motor physically finishes — reflects real world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Emergency RESET command instantly halts motor, servo, and clears all flags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9016" y="1115568"/>
            <a:ext cx="3657600" cy="22860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PWM Soft-Ramp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481328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Custom MotorL298N library ramps 0→90% over ~5 seconds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30% kickstart PWM prevents stall against static friction on startup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hardBrake() instantly cuts all PWM — used during RESET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Smooth ramp reduces mechanical shock, extends belt and gear life significantly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66160"/>
            <a:ext cx="3657600" cy="22860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63931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Automatic Sensor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931920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ACS712 zero-current offset auto-calibrated on every boot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Averages 500 ADC samples over 1 second before accepting load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Eliminates offset drift from temperature and supply voltage variation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No manual potentiometer tuning required — works out of the 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3566160"/>
            <a:ext cx="3657600" cy="22860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63931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Servo Sun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931920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Auto-tracking fires every 15 minutes while panel is open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Duration calculated from RPM and revolutions (not guessed)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Manual override has highest priority — auto-track pauses instantly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Tracking cancelled automatically when panel closes at end of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3566160"/>
            <a:ext cx="3657600" cy="22860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363931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Data Transmission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3931920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CSV sent over TCP every 100 ms: time, V, A, W, battery V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RTC cached every 1 second — avoids I²C overhead every 10 ms loop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WiFi auto-reconnects every 5 seconds if connection drops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Button press edge-detected with 200 ms debounce; release is immediate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COMMUNICATION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Private WiFi — TCP — no cloud, no internet, no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237744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Controller  →  Remote  (every 100 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Format:   HH:MM:SS , voltage , current , power , batteryVoltage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FA500"/>
                </a:solidFill>
              </a:rPr>
              <a:t>Example:  08:42:15 , 18.34 , 2.10 , 38.51 , 12.67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12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128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87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HH:MM:SS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87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871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DS3231 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voltage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432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Panel voltage divider GPIO 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992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9992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ACS712 current sensor GPIO 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552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552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552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Calculated: voltage × current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batteryVoltage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112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112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Battery voltage divider GPIO 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57600"/>
            <a:ext cx="11155680" cy="260604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307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44"/>
                </a:solidFill>
              </a:rPr>
              <a:t>Remote  →  Controller  (on button press/release)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14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Command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148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114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Effect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SERVO_FWD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3891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Hold button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Servo rotates forward — manual sun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64972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SERVO_REV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64972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Hold button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64972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Servo rotates reverse — undo tracking angle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91032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SERVO_STOP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91032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Release button 1 or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91032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Servo stops immediately on 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17092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PANEL_OPEN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517092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Hold button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17092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DC motor opens panel (only if MOTOR_IDLE)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4315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PANEL_CLOSE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4315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Hold button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4315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DC motor closes panel (only if MOTOR_IDLE)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692135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MOTOR_STOP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69213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Release button 3 or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69213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Motor stops immediately on release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95273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RESET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95273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Emergency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95273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Halts everything, clears all state flags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LARGE SCALE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How this prototype scales to a commercial solar farm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5486400" cy="25146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8872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Hardware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81328"/>
            <a:ext cx="52669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Replace ESP32 with Raspberry Pi / industrial PLC as central hub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L298N → 3-phase motor controllers for larger actuators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Single servo → stepper motors with encoders for precise angular control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Voltage dividers → industrial CT clamps rated for high currents (100A+)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OLED → web-based Grafana/React dashboard for fleet-wide metrics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Add dual-axis trackers: separate motor for elevation angle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1115568"/>
            <a:ext cx="5486400" cy="25146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118872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Network &amp; Software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481328"/>
            <a:ext cx="52669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Replace direct TCP with MQTT broker (Mosquitto) — each panel is a topic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OTA (Over-the-Air) firmware updates across entire field without physical access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Time-series database (InfluxDB / TimescaleDB) for historical analysis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REST API so any device (phone, browser, SCADA) can query panel status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GPS-based sun angle calculation from latitude/longitude using NOAA formulas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Cloud backup with daily energy yield reports sent via email/SMS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94760"/>
            <a:ext cx="5486400" cy="25146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867912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Physical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4160520"/>
            <a:ext cx="52669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Single-axis tracker (east-west) driven by DC motor — most common commercial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Dual-axis tracker adds elevation control for maximum annual yield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Wind speed sensor auto-retracts all panels when gusts exceed safe threshold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IP65 weatherproof enclosures for all electronics; surge protection on sensors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Modular wiring harness — each panel unit is identical, plug-and-play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Remote diagnostic port: plug in laptop to pull logs without disassembly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3794760"/>
            <a:ext cx="5486400" cy="251460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867912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Operations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4160520"/>
            <a:ext cx="52669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Central dashboard shows all panels on a map — green/amber/red status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Predictive maintenance: compare daily yield to expected yield, flag underperformers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Automated fault detection: if panel V drops unexpectedly, send SMS alert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Staggered motor schedules to avoid current surge when 100 panels open at once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Role-based access: operators can view, admins can reconfigure schedules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A500"/>
                </a:solidFill>
              </a:rPr>
              <a:t>•  </a:t>
            </a:r>
            <a:r>
              <a:rPr sz="1100">
                <a:solidFill>
                  <a:srgbClr val="FFFFFF"/>
                </a:solidFill>
              </a:rPr>
              <a:t>Audit log of all commands and state changes for insurance and warranty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SYSTEM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Upgrades to transform the prototype into a production-grade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Precision Sun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81328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Add LDR (light-dependent resistor) pair — servo stops when both read equal light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Closed-loop: encoder on servo shaft confirms actual angular position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MPPT algorithm — track angle that maximises real-time power, not just sun direction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Add elevation axis motor for full 2-axis tracking (+15% extra yield over single axis)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Store tracking history to learn seasonal patterns and anticipate sun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115568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Reliability &amp;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1481328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Motor stall detection — dedicated current sensor on motor supply line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Panel position encoder — know exact open angle, prevent over-driving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ESP32 hardware watchdog — auto-reboot if firmware hangs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Redundant NTP time sync when WiFi is available; RTC as offline fallback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Surge protection and reverse-polarity protection on all power inputs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9016" y="1115568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Energy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481328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State-of-charge calculation from battery voltage discharge curve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Watt-hour accumulation — log daily energy yield (kWh) to flash memory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Low battery alert — automatically retract panel and go to sleep mode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Compare actual vs expected yield — alert if efficiency drops below threshold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Temperature sensor on panel — derate power estimate on hot days (3% per °C)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85032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758184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User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050792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Replace OLED with colour TFT touchscreen showing voltage/current/power graphs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Mobile app via Bluetooth for configuration (set open/close times, tracking interval)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Push notifications when power drops below expected or a fault is detected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Voice alerts via small buzzer — different tones for open, close, fault events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Web interface with historical charts, exportable CSV, and remote schedule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3685032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758184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4050792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MQTT over WiFi to a local home server or cloud broker (AWS IoT / HiveMQ)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LoRa radio fallback for installations beyond WiFi range (up to 10km line-of-sight)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4G LTE module option for completely off-grid sites with no WiFi infrastructure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Mesh networking — controllers relay data through each other to the gateway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Encrypted TLS communication to prevent command injection over the 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3685032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3758184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Manufacturing &amp;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050792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Custom PCB to replace breadboard wiring — reduces failure points significantly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Conformal coating on PCB for humidity and corrosion resistance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3D-printed weatherproof enclosure with cable glands and DIN rail mount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Factory calibration routine — automated test jig checks each unit before shipping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QR code on each unit links to its data dashboard and service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FUTURE BENEFITS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Why this technology matters beyond the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Energy 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81328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Single-axis tracker increases annual yield by 25–40% over fixed panels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Dual-axis tracking adds a further 10–15% on top of single-axis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Fewer panels needed for the same power target — lower land and material cost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Longer battery cycle life: tracker extracts full energy during peak sun hours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Enables off-grid homes, farms, and villages to become energy self-sufficient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115568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Agricultural (Agrivoltaics)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1481328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Tilted panels let morning/evening light through while blocking harsh midday sun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Crops grown underneath benefit from shade — up to 60% less water consumption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Dual income: farmers sell electricity AND grow crops on the same land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This system’s tilt angle control makes it a ready foundation for agrivoltaics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Already deployed at scale in Japan, Germany, and South Korea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9016" y="1115568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18872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Smart Grid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481328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Real-time power data at 100ms resolution feeds directly into grid balancing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When panels report excess generation, smart switches divert energy to EV charging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Demand-response: utilities can remotely schedule open/close times to shift load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Micro-grid: cluster of these units can power a village with automatic load sharing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Predictive generation forecast helps grid operators plan backup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85032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758184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Developing World &amp; Disaster Relief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050792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No internet required — the two ESP32s form their own private WiFi network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Total BOM cost under ₹2500 (∼$30) — accessible to smallholder farmers globally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Can be assembled with basic tools and locally available components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Solar tracker + battery means uninterrupted power even in remote locations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Deployed to disaster zones as portable power stations for medical equipment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3685032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758184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Environmental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4050792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Every 1% yield improvement = proportionally fewer panels for a given power target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Fewer panels = less silicon, aluminium, and rare earth mining required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1 MW solar farm with tracking: +350 kWh/day = saves ~50,000 kg CO₂/year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Retractable panels survive hailstorms — longer panel life, less e-waste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Closed-loop MPPT maximises green energy extraction without any fuel burning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3685032"/>
            <a:ext cx="3657600" cy="2423160"/>
          </a:xfrm>
          <a:prstGeom prst="rect">
            <a:avLst/>
          </a:prstGeom>
          <a:solidFill>
            <a:srgbClr val="15293E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3758184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0"/>
                </a:solidFill>
              </a:rPr>
              <a:t>Commercial &amp; Research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050792"/>
            <a:ext cx="34381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Platform for AI-based sun prediction using historical tracking data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University research tool for studying panel degradation and soiling effects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Integration with weather APIs to pre-position panels before storms arrive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Data marketplace: anonymised energy yield data valuable to grid planners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A500"/>
                </a:solidFill>
              </a:rPr>
              <a:t>•  </a:t>
            </a:r>
            <a:r>
              <a:rPr sz="1050">
                <a:solidFill>
                  <a:srgbClr val="FFFFFF"/>
                </a:solidFill>
              </a:rPr>
              <a:t>White-label product for solar installation companies to brand and resell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Quantified energy gains from single-axis solar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3657600" cy="210312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500"/>
                </a:solidFill>
              </a:rPr>
              <a:t>+35%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Average annual energy gain
from single-axis tracking
vs fixed panel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188720"/>
            <a:ext cx="3657600" cy="210312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353312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500"/>
                </a:solidFill>
              </a:rPr>
              <a:t>+50%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Peak-hour energy gain
on clear summer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9016" y="1188720"/>
            <a:ext cx="3657600" cy="210312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353312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500"/>
                </a:solidFill>
              </a:rPr>
              <a:t>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Sensor data refresh rate
— real-time monitoring
for every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93008"/>
            <a:ext cx="3657600" cy="210312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500"/>
                </a:solidFill>
              </a:rPr>
              <a:t>₹2500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1596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Bill of Materials
cost for the complete
two-unit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3493008"/>
            <a:ext cx="3657600" cy="210312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6576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500"/>
                </a:solidFill>
              </a:rPr>
              <a:t>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31596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Sun tracking interval
— optimal balance of
yield vs servo wear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3493008"/>
            <a:ext cx="3657600" cy="2103120"/>
          </a:xfrm>
          <a:prstGeom prst="rect">
            <a:avLst/>
          </a:prstGeom>
          <a:solidFill>
            <a:srgbClr val="1529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36576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A500"/>
                </a:solidFill>
              </a:rPr>
              <a:t>50,000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431596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CO₂ saved per year
for a 1 MW farm
using this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0936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8251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Based on 35% improvement from single-axis tracking, 300 sunny days/year, 0.4 kg CO₂/kWh grid average (IEA 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What makes this system stand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252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2529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Internet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61848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The two ESP32s form a private WiFi network. Works in fields, deserts, rooftops — anywhere with no infrastructure. Unlike cloud-dependent systems, it cannot be killed by a server outage.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7608" y="111556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7336" y="12252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22529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Custom PWM Motor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161848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Soft-ramp 0→90% over 5 seconds with kickstart — prevents gear shock, motor burnout, and belt snap. No commercial tracker at this price point offers configurable ramp control.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7797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7977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Self-Calibrating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17296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ACS712 zero offset auto-calibrated on every boot with 500 samples. Eliminates manual potentiometer tuning and compensates for temperature drift automatically over the lifetime of the unit.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7608" y="267004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7797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7977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State-Machine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317296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Motor only accepts a new command when IDLE — impossible to trigger opening while already opening. Flags are set after physical completion, not on command issue, reflecting real-world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2452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334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3425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100ms Live Data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72744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10 readings per second over TCP gives a smooth, real-time view of voltage, current, and power. Enough resolution to detect transient shadows, partial shading, and wiring faults.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7608" y="422452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4334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33425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Extensible Command Protocol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7336" y="472744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Adding a new button or remote command requires one line in the buttons[] array — no other code changes. Engineers can add features in minutes without understanding the full codebase.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77900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58887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8873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Emergency 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" y="628192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A single RESET command stops motor, stops servo, clears all flags and timers instantly. Designed for field safety — operator presses one button and the entire system is in a known safe state.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07608" y="5779008"/>
            <a:ext cx="5394960" cy="1417320"/>
          </a:xfrm>
          <a:prstGeom prst="rect">
            <a:avLst/>
          </a:prstGeom>
          <a:solidFill>
            <a:srgbClr val="1529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17336" y="58887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588873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Under ₹2500 Total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17336" y="6281928"/>
            <a:ext cx="51937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Complete two-unit system costs under ₹2500 using off-the-shelf modules. Commercial solar trackers start at ₹40,000+. This makes professional-grade tracking accessible to small farmers globally.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Complete hardware cost — under ₹2500 for the full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15568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Qty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Unit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1521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solidFill>
            <a:srgbClr val="15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361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ESP32 Dev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361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5361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361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53619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Main controller + Remote control unit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83664"/>
            <a:ext cx="11155680" cy="384048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93852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L298N Motor Driver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93852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93852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3852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93852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DC motor direction and PWM speed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286000"/>
            <a:ext cx="11155680" cy="384048"/>
          </a:xfrm>
          <a:prstGeom prst="rect">
            <a:avLst/>
          </a:prstGeom>
          <a:solidFill>
            <a:srgbClr val="15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DC Gear Motor (12V)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₹350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34086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Opens and closes the solar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688336"/>
            <a:ext cx="11155680" cy="384048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7432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Continuous Rotation Servo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7432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27432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₹280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7432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₹280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4320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Sun tracking axis rotation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090672"/>
            <a:ext cx="11155680" cy="384048"/>
          </a:xfrm>
          <a:prstGeom prst="rect">
            <a:avLst/>
          </a:prstGeom>
          <a:solidFill>
            <a:srgbClr val="15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1455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ACS712-30A Current Sensor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1455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1455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1455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1455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Panel output current measurement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493008"/>
            <a:ext cx="11155680" cy="384048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Voltage Divider Module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Panel voltage + battery voltage sensing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895344"/>
            <a:ext cx="11155680" cy="384048"/>
          </a:xfrm>
          <a:prstGeom prst="rect">
            <a:avLst/>
          </a:prstGeom>
          <a:solidFill>
            <a:srgbClr val="15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9502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DS3231 RTC Module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39502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39502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9502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₹180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9502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Real-time clock for open/close scheduling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297680"/>
            <a:ext cx="11155680" cy="384048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35254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SSD1306 OLED 128×64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435254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35254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₹220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35254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₹220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35254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sensor dashboard on remote unit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700016"/>
            <a:ext cx="11155680" cy="384048"/>
          </a:xfrm>
          <a:prstGeom prst="rect">
            <a:avLst/>
          </a:prstGeom>
          <a:solidFill>
            <a:srgbClr val="15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7548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Push Buttons (pack)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34840" y="47548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0" y="47548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47548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7548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 control buttons on remote unit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102352"/>
            <a:ext cx="11155680" cy="384048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1572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Miscellaneous (wires etc)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34840" y="51572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51572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₹200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1572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₹200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1572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Jumper wires, breadboard, capacitors, resistors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5504688"/>
            <a:ext cx="11155680" cy="4023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55595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TOTAL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55955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₹2,440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A500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45720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877824"/>
          </a:xfrm>
          <a:prstGeom prst="rect">
            <a:avLst/>
          </a:prstGeom>
          <a:solidFill>
            <a:srgbClr val="15293E"/>
          </a:solidFill>
          <a:ln w="101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8930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1.  Low-cost hardware, professional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00200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Under ₹2500 of components delivers intelligent, autonomous solar tracking — capabilities previously only available in ₹40,000+ commercial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67128"/>
            <a:ext cx="11064240" cy="877824"/>
          </a:xfrm>
          <a:prstGeom prst="rect">
            <a:avLst/>
          </a:prstGeom>
          <a:solidFill>
            <a:srgbClr val="15293E"/>
          </a:solidFill>
          <a:ln w="101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2199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2.  Non-blocking, state-machine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3288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Motor, servo, WiFi, and sensors all run concurrently on a single microcontroller. The software architecture is sound enough to scale to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99816"/>
            <a:ext cx="11064240" cy="877824"/>
          </a:xfrm>
          <a:prstGeom prst="rect">
            <a:avLst/>
          </a:prstGeom>
          <a:solidFill>
            <a:srgbClr val="15293E"/>
          </a:solidFill>
          <a:ln w="101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5468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3.  Wireless and self-contained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65576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No internet, no cloud, no single point of failure. The two-unit system forms its own private network — deployable anywhere on Earth.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1064240" cy="877824"/>
          </a:xfrm>
          <a:prstGeom prst="rect">
            <a:avLst/>
          </a:prstGeom>
          <a:solidFill>
            <a:srgbClr val="15293E"/>
          </a:solidFill>
          <a:ln w="101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8736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4.  Clear upgrade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398264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LDR closed-loop tracking, MPPT, MQTT, OTA updates, custom PCB — every improvement is well-defined and builds directly on the existing architecture.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65192"/>
            <a:ext cx="11064240" cy="877824"/>
          </a:xfrm>
          <a:prstGeom prst="rect">
            <a:avLst/>
          </a:prstGeom>
          <a:solidFill>
            <a:srgbClr val="15293E"/>
          </a:solidFill>
          <a:ln w="101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02005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5.  Measurable real-world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330952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+35% annual energy yield, 50,000 kg CO₂ saved per MW, and a ₹2500 price point that makes solar tracking accessible to smallholder farmers worldwide.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1106424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6E0"/>
                </a:solidFill>
              </a:rPr>
              <a:t>"The future of solar is not just bigger panels — it is smarter panels that follow the sun, report their health, and respond to their environment automatically."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